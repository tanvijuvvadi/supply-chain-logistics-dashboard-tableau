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Prime Distribution</c:v>
                </c:pt>
                <c:pt idx="1">
                  <c:v>ABC Logistics</c:v>
                </c:pt>
                <c:pt idx="2">
                  <c:v>Global Supply Co</c:v>
                </c:pt>
                <c:pt idx="3">
                  <c:v>FastTrack Pvt Ltd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40.74</c:v>
                </c:pt>
                <c:pt idx="1">
                  <c:v>35.71</c:v>
                </c:pt>
                <c:pt idx="2">
                  <c:v>21.62</c:v>
                </c:pt>
                <c:pt idx="3">
                  <c:v>21.43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C3-4BDC-B4DE-1EA9A9564D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D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7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7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C6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58-4B8B-B2E9-9C7AF491AC51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58-4B8B-B2E9-9C7AF491AC5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58-4B8B-B2E9-9C7AF491AC5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58-4B8B-B2E9-9C7AF491AC5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 Time (35)</c:v>
                </c:pt>
                <c:pt idx="1">
                  <c:v>Delayed (85)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58-4B8B-B2E9-9C7AF491A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A274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D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7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15</c:v>
                </c:pt>
                <c:pt idx="2">
                  <c:v>14</c:v>
                </c:pt>
                <c:pt idx="3">
                  <c:v>23</c:v>
                </c:pt>
                <c:pt idx="4">
                  <c:v>21</c:v>
                </c:pt>
                <c:pt idx="5">
                  <c:v>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C10-481A-BA78-5B9C8468416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D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7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7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48CAE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South</c:v>
                </c:pt>
                <c:pt idx="2">
                  <c:v>West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37.93</c:v>
                </c:pt>
                <c:pt idx="1">
                  <c:v>35.479999999999997</c:v>
                </c:pt>
                <c:pt idx="2">
                  <c:v>33.33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66-4597-BB69-E9DE48BB74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DB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7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7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16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1A2742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Logistics &amp;</a:t>
            </a:r>
            <a:endParaRPr lang="en-US" sz="34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Inventory Performance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Q1 - Q2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57200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4572000"/>
            <a:ext cx="91440" cy="9144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4572000"/>
            <a:ext cx="91440" cy="91440"/>
          </a:xfrm>
          <a:prstGeom prst="ellipse">
            <a:avLst/>
          </a:prstGeom>
          <a:solidFill>
            <a:srgbClr val="8B9DB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 |  Q1-Q2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1E335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1207008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67128" y="1417320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1E3354"/>
          </a:solidFill>
          <a:ln/>
        </p:spPr>
      </p:sp>
      <p:sp>
        <p:nvSpPr>
          <p:cNvPr id="9" name="Shape 7"/>
          <p:cNvSpPr/>
          <p:nvPr/>
        </p:nvSpPr>
        <p:spPr>
          <a:xfrm>
            <a:off x="2350008" y="1554480"/>
            <a:ext cx="1207008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2167128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29.17%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67128" y="278892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77056" y="1417320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1E3354"/>
          </a:solidFill>
          <a:ln/>
        </p:spPr>
      </p:sp>
      <p:sp>
        <p:nvSpPr>
          <p:cNvPr id="13" name="Shape 11"/>
          <p:cNvSpPr/>
          <p:nvPr/>
        </p:nvSpPr>
        <p:spPr>
          <a:xfrm>
            <a:off x="4059936" y="1554480"/>
            <a:ext cx="1207008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77056" y="278892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86984" y="1417320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1E3354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9864" y="1554480"/>
            <a:ext cx="1207008" cy="3657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8" name="Text 16"/>
          <p:cNvSpPr/>
          <p:nvPr/>
        </p:nvSpPr>
        <p:spPr>
          <a:xfrm>
            <a:off x="5586984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5.72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86984" y="278892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6912" y="1417320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1E3354"/>
          </a:solidFill>
          <a:ln/>
        </p:spPr>
      </p:sp>
      <p:sp>
        <p:nvSpPr>
          <p:cNvPr id="21" name="Shape 19"/>
          <p:cNvSpPr/>
          <p:nvPr/>
        </p:nvSpPr>
        <p:spPr>
          <a:xfrm>
            <a:off x="7479792" y="1554480"/>
            <a:ext cx="1207008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₹3,26,561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96912" y="278892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4706"/>
            </a:avLst>
          </a:prstGeom>
          <a:solidFill>
            <a:srgbClr val="1A274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49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Critical: </a:t>
            </a: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is critically low at 29.17% with 85 out of 120 orders delayed.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Performance &amp; Delivery Status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by Supplier  |  Order Status Breakdown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801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212080" y="128016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Orders Trend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 |  January - June 2025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1E335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Peak: January (25 orders)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26080" y="452628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1E3354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Low: March (14 orders)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Overview by Category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Stockout Rates &amp; Turnover Analysis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863840" cy="2240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Stock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Stockout Rate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Turnover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Hold Cost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Electronics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16,233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13.33%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5.04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₹5,722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⚠️ High Risk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Furniture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15,321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</a:rPr>
                        <a:t>4.00%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5.83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₹5,430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</a:rPr>
                        <a:t>✅ Healthy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Apparel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19,767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</a:rPr>
                        <a:t>8.82%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5.63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₹4,475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</a:rPr>
                        <a:t>⚠️ Monitor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Food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19,215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</a:rPr>
                        <a:t>3.23%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6.40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₹5,790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</a:rPr>
                        <a:t>✅ Healthy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2651760" cy="777240"/>
          </a:xfrm>
          <a:prstGeom prst="roundRect">
            <a:avLst>
              <a:gd name="adj" fmla="val 4706"/>
            </a:avLst>
          </a:prstGeom>
          <a:solidFill>
            <a:srgbClr val="1E3354"/>
          </a:solidFill>
          <a:ln/>
        </p:spPr>
      </p:sp>
      <p:sp>
        <p:nvSpPr>
          <p:cNvPr id="4" name="Text 3"/>
          <p:cNvSpPr/>
          <p:nvPr/>
        </p:nvSpPr>
        <p:spPr>
          <a:xfrm>
            <a:off x="45720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70,536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in Stock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3840480"/>
            <a:ext cx="2651760" cy="777240"/>
          </a:xfrm>
          <a:prstGeom prst="roundRect">
            <a:avLst>
              <a:gd name="adj" fmla="val 4706"/>
            </a:avLst>
          </a:prstGeom>
          <a:solidFill>
            <a:srgbClr val="1E3354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7.50%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9184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Stockout Rate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840480"/>
            <a:ext cx="2651760" cy="777240"/>
          </a:xfrm>
          <a:prstGeom prst="roundRect">
            <a:avLst>
              <a:gd name="adj" fmla="val 4706"/>
            </a:avLst>
          </a:prstGeom>
          <a:solidFill>
            <a:srgbClr val="1E3354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5.72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8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Turnover Ratio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by Region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1E3354"/>
          </a:solidFill>
          <a:ln/>
        </p:spPr>
      </p:sp>
      <p:sp>
        <p:nvSpPr>
          <p:cNvPr id="6" name="Shape 3"/>
          <p:cNvSpPr/>
          <p:nvPr/>
        </p:nvSpPr>
        <p:spPr>
          <a:xfrm>
            <a:off x="5760720" y="1371600"/>
            <a:ext cx="54864" cy="5029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0" y="12801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37.93%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55280" y="12801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orders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10312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1E3354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2194560"/>
            <a:ext cx="54864" cy="5029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21031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35.48%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21031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orders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92608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1E3354"/>
          </a:solidFill>
          <a:ln/>
        </p:spPr>
      </p:sp>
      <p:sp>
        <p:nvSpPr>
          <p:cNvPr id="16" name="Shape 13"/>
          <p:cNvSpPr/>
          <p:nvPr/>
        </p:nvSpPr>
        <p:spPr>
          <a:xfrm>
            <a:off x="5760720" y="3017520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0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33.33%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55280" y="29260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orders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374904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1E3354"/>
          </a:solidFill>
          <a:ln/>
        </p:spPr>
      </p:sp>
      <p:sp>
        <p:nvSpPr>
          <p:cNvPr id="21" name="Shape 18"/>
          <p:cNvSpPr/>
          <p:nvPr/>
        </p:nvSpPr>
        <p:spPr>
          <a:xfrm>
            <a:off x="5760720" y="384048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32320" y="3749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10.00%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55280" y="37490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orders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&amp;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Supply Chain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1E335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Delivery Performance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is critically low at 29.17% — 70.83% of orders are delayed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1E335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Top 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Distribution leads with 40.74% on-time delivery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1E335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Electronics Stockout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category has highest stockout rate at 13.33%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1E3354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463040"/>
            <a:ext cx="54864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399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North Region Underperformance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severely underperforming at only 10% on-time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1E335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514600"/>
            <a:ext cx="54864" cy="6400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Transportation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spend for the period: ₹3,26,561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1A27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Recommendation: Prioritize logistics improvements in North region and review Electronics supply chain to reduce stockouts.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B219CF-0285-4AC8-9FA2-8E860F270174}">
  <we:reference id="WA200010606" version="1.0.10036.0" store="en-us" storeType="OMEX"/>
  <we:alternateReferences/>
  <we:properties>
    <we:property name="Office.AutoShowTaskpaneWithDocument" value="true"/>
    <we:property name="conversationId" value="&quot;70138db6-a84e-4979-a8f4-f7c830437c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Logistics &amp; Inventory Dashboard</dc:title>
  <dc:subject>PptxGenJS Presentation</dc:subject>
  <dc:creator>Supply Chain Analytics</dc:creator>
  <cp:lastModifiedBy>tanvitha juvvadi</cp:lastModifiedBy>
  <cp:revision>1</cp:revision>
  <dcterms:created xsi:type="dcterms:W3CDTF">2026-05-26T10:25:38Z</dcterms:created>
  <dcterms:modified xsi:type="dcterms:W3CDTF">2026-05-26T10:27:33Z</dcterms:modified>
</cp:coreProperties>
</file>